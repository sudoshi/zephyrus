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per acquisition dollar</c:v>
                </c:pt>
              </c:strCache>
            </c:strRef>
          </c:tx>
          <c:spPr>
            <a:solidFill>
              <a:srgbClr val="1A2238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238"/>
                    </a:solidFill>
                    <a:latin typeface="Source Serif 4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</c:v>
                </c:pt>
                <c:pt idx="1">
                  <c:v>262</c:v>
                </c:pt>
                <c:pt idx="2">
                  <c:v>367</c:v>
                </c:pt>
                <c:pt idx="3">
                  <c:v>499</c:v>
                </c:pt>
                <c:pt idx="4">
                  <c:v>589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2238"/>
                  </a:solidFill>
                  <a:latin typeface="Source Serif 4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B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A2238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8"/>
                    </a:solidFill>
                    <a:latin typeface="Source Serif 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3.6</c:v>
                </c:pt>
                <c:pt idx="2">
                  <c:v>4.7</c:v>
                </c:pt>
                <c:pt idx="3">
                  <c:v>6</c:v>
                </c:pt>
                <c:pt idx="4">
                  <c:v>6.9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238"/>
                  </a:solidFill>
                  <a:latin typeface="Source Serif 4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3x bar</c:v>
                </c:pt>
              </c:strCache>
            </c:strRef>
          </c:tx>
          <c:spPr>
            <a:solidFill>
              <a:srgbClr val="B08A2E"/>
            </a:solidFill>
            <a:ln w="25400" cap="flat">
              <a:solidFill>
                <a:srgbClr val="B08A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8A2E"/>
              </a:solidFill>
              <a:ln w="9525" cap="flat">
                <a:solidFill>
                  <a:srgbClr val="B0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B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A223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8"/>
                    </a:solidFill>
                    <a:latin typeface="Source Serif 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21.3</c:v>
                </c:pt>
                <c:pt idx="1">
                  <c:v>16.6</c:v>
                </c:pt>
                <c:pt idx="2">
                  <c:v>12.9</c:v>
                </c:pt>
                <c:pt idx="3">
                  <c:v>10</c:v>
                </c:pt>
                <c:pt idx="4">
                  <c:v>8.7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8"/>
                  </a:solidFill>
                  <a:latin typeface="Source Serif 4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12mo bar</c:v>
                </c:pt>
              </c:strCache>
            </c:strRef>
          </c:tx>
          <c:spPr>
            <a:solidFill>
              <a:srgbClr val="B08A2E"/>
            </a:solidFill>
            <a:ln w="25400" cap="flat">
              <a:solidFill>
                <a:srgbClr val="B08A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8A2E"/>
              </a:solidFill>
              <a:ln w="9525" cap="flat">
                <a:solidFill>
                  <a:srgbClr val="B0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B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 multiple</c:v>
                </c:pt>
              </c:strCache>
            </c:strRef>
          </c:tx>
          <c:spPr>
            <a:solidFill>
              <a:srgbClr val="A8442A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8"/>
                    </a:solidFill>
                    <a:latin typeface="Source Serif 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6.96</c:v>
                </c:pt>
                <c:pt idx="1">
                  <c:v>3.55</c:v>
                </c:pt>
                <c:pt idx="2">
                  <c:v>1.75</c:v>
                </c:pt>
                <c:pt idx="3">
                  <c:v>0.73</c:v>
                </c:pt>
                <c:pt idx="4">
                  <c:v>0.14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238"/>
                  </a:solidFill>
                  <a:latin typeface="Source Serif 4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1.0x</c:v>
                </c:pt>
              </c:strCache>
            </c:strRef>
          </c:tx>
          <c:spPr>
            <a:solidFill>
              <a:srgbClr val="B08A2E"/>
            </a:solidFill>
            <a:ln w="25400" cap="flat">
              <a:solidFill>
                <a:srgbClr val="B08A2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8A2E"/>
              </a:solidFill>
              <a:ln w="9525" cap="flat">
                <a:solidFill>
                  <a:srgbClr val="B0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B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8448" y="512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E4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ACUMENUS, INC.</a:t>
            </a:r>
            <a:endParaRPr lang="en-US" sz="1200" dirty="0"/>
          </a:p>
          <a:p>
            <a:pPr indent="0" marL="0">
              <a:buNone/>
            </a:pPr>
            <a:r>
              <a:rPr lang="en-US" sz="1050" spc="4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ZEPHYRUS PLATFORM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949440" y="512064"/>
            <a:ext cx="46753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93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INVESTOR BRIEFING · RECONCILED EDITION</a:t>
            </a:r>
            <a:endParaRPr lang="en-US" sz="1050" dirty="0"/>
          </a:p>
          <a:p>
            <a:pPr algn="r" indent="0" marL="0">
              <a:buNone/>
            </a:pPr>
            <a:r>
              <a:rPr lang="en-US" sz="1050" spc="300" kern="0" dirty="0">
                <a:solidFill>
                  <a:srgbClr val="8A93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JULY 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1627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ZEPHYRUS · HOSPITAL OPERATIONS PLATFORM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1938528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plan, one deck, one model — </a:t>
            </a:r>
            <a:pPr indent="0" marL="0">
              <a:buNone/>
            </a:pPr>
            <a:r>
              <a:rPr lang="en-US" sz="40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and the ROI at every layer.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66928" y="3913632"/>
            <a:ext cx="2651760" cy="0"/>
          </a:xfrm>
          <a:prstGeom prst="line">
            <a:avLst/>
          </a:prstGeom>
          <a:noFill/>
          <a:ln w="12700">
            <a:solidFill>
              <a:srgbClr val="B08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041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589%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 on each acquisition dollar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13048" y="3913632"/>
            <a:ext cx="2651760" cy="0"/>
          </a:xfrm>
          <a:prstGeom prst="line">
            <a:avLst/>
          </a:prstGeom>
          <a:noFill/>
          <a:ln w="12700">
            <a:solidFill>
              <a:srgbClr val="B08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13048" y="4041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6–13×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3813048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ROI per hospital, sourced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59168" y="3913632"/>
            <a:ext cx="2651760" cy="0"/>
          </a:xfrm>
          <a:prstGeom prst="line">
            <a:avLst/>
          </a:prstGeom>
          <a:noFill/>
          <a:ln w="12700">
            <a:solidFill>
              <a:srgbClr val="B08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59168" y="4041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$1.20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059168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lifetime capital per $1 of ARR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523036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FC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Reconciles ACUM-ZEP-FIN-DECK-001 (The Fifteen Numbers, Jul 11) with Business Plan v2.0 + Financial Model (ACUM-BIZ-ZEPH-002, Jul 17). Every divergence shown, every choice explained — nothing quietly changed.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053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Sanjay M. Udoshi, MD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Founder, Acumenus, Inc.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0" y="6272784"/>
            <a:ext cx="4309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ACUM-ZEP-FIN-DECK-002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RECONCILIATION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documents. One set of numbers.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57839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34640"/>
                <a:gridCol w="2788920"/>
                <a:gridCol w="328269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METRIC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DECK-001 · JUL 11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PLAN v2.0 · JUL 17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9A22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THIS DECK — RESOLUTION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First institutional raise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$7M validation · Jan-27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$15M Series A · H2-26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$7M Jan-27 — matches product reality (candor slide)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Total staged capital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$23M ($1M seed + $7M + $16M)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$40M ($15M A + $25M B)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$23M base · $40M labeled accelerated option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Year-5 ARR (base)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$20.1M (2031) · 36 logos · 55 sites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$48.9M (2030) · 159 hospitals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$20.1M base · $35.6M upside · $48.9M accelerated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Blended ACV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$300K → $365K per site (module stack)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$203K → $289K net of launch discounts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Same list stack — v2.0 nets off 25→5% early discounts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 (US 200+ beds)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$725M · 1,404 hospitals (CMS certified)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$821M · 1,462 hospitals (AHA staffed)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$725–821M — two independent counts, 12% apart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LTV : CAC (year 5)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6.9× (5-yr capped CLV)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6.0–8.6× (7-yr life)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6.9× — keep the stricter 5-yr cap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NRR steady state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110%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106–107%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106–110% band; expansion only after measured results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EBITDA break-even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2031 (+$0.06M)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During 2029 (+20% margin 2030)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2031 base; 2029–30 only under accelerated capital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 · base case</a:t>
                      </a:r>
                      <a:endParaRPr lang="en-US" sz="9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~$160M (8× ARR) · 6.7× capital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~$391M (8× ARR)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A4A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$160M base · $390M accelerated — same 8× lens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Deck-001 contributed capital discipline and gating · Plan v2.0 contributed sourced market evidence and customer ROI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ACUM-ZEP-FIN-DECK-001 · ACUM-BIZ-ZEPH-002 + model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deck's discipline, the plan's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40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KEPT FROM DECK-001 (THE FIFTEEN NUMBERS)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9286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Staged, evidence-gated capital: $7M validation now, $16M scale at M19 — gates, not calendar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2027 revenue start — consistent with the candor slide: security remediation and production EHR connectors come first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 ≡ sites × ACV identity, enforced by a model check every year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two WARN flags, disclosed — OpEx capacity gap and the year-1 cash-buffer dip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5-yr-capped CLV and strict unit-economics definitions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6199632" y="1572768"/>
            <a:ext cx="5440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181051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A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ADOPTED FROM PLAN v2.0 + FINANCIAL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55664" y="2212848"/>
            <a:ext cx="49286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Sourced problem quantification: margins, OR $/minute, boarding minutes, RN-turnover economics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Per-hospital customer ROI model — the number that actually closes hospital deals (6–13×)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AHA-based SAM cross-check ($821M vs $725M CMS) — the sizing now has two legs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 context: KeyBanc payback medians, Benchmarkit NRR bands, healthy LTV:CAC bars</a:t>
            </a:r>
            <a:endParaRPr lang="en-US" sz="116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explicit accelerated case ($40M staged) so ambition is labeled, never smuggled into the base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66928" y="5779008"/>
            <a:ext cx="11057839" cy="45720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5779008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 </a:t>
            </a:r>
            <a:pPr indent="0" marL="0">
              <a:buNone/>
            </a:pPr>
            <a:r>
              <a:rPr lang="en-US" sz="1100" dirty="0">
                <a:solidFill>
                  <a:srgbClr val="E8E4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base case is what the current product state and $23M of gated capital support. Everything faster is labeled accelerated and priced separately.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Nothing from either artifact was quietly changed — divergences resolve on the previous slide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 note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WHY HOSPITALS PAY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operational losses are measured, not anecdotal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40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1–2%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1401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hospital operating margin; ~40% of US hospitals lose money on operations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22960" y="31638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KAUFMAN HALL 2025 · ADVISORY BOARD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99632" y="1572768"/>
            <a:ext cx="5440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737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$36–46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55664" y="241401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 of one OR minute — while prime-time utilization runs 60–75% vs the 80–85% target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455664" y="31638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JAMA SURGERY 2018 · LIT. REVIEW 2022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5440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22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190 min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" y="44988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ED boarding for admitted patients — up ~60% vs the 2013–19 baseline; ~5 hrs at large EDs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22960" y="52486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ACEP / ENA COMPENDIUM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99632" y="3657600"/>
            <a:ext cx="54406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822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$5.19M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55664" y="44988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average annual cost of RN turnover per hospital — 17.6% turnover at $60,090 per departure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455664" y="52486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NSI RETENTION REPORT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figure carried into the customer-ROI model on the next slide — same sources as Plan v2.0 Appendix 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Plan v2.0 §2 · model 'Sources' sheet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THE ROI THAT CLOSES DEALS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 hospital: 6–13× return on the subscription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75488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ROI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identified annual value ÷ platform subscription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0" y="1481328"/>
            <a:ext cx="4108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$2.1–4.0M ÷ $300–365K  =  6–13×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57984"/>
          <a:ext cx="7589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520440"/>
                <a:gridCol w="11887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VALUE LEVER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MECHANISM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ANNUAL VALUE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TYPE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 utilization +2–4 pts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 released block time — ~$40/min × recovered prime-time minutes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$1.0–2.0M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Hard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 walkouts −0.5–1.0 pt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≈600 retained visits × ~$600 average net revenue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$0.2–0.4M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Hard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RN turnover −1–2 pts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$289K per point of turnover (NSI 2026)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$0.3–0.6M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Hard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Boarding / LOS −0.2–0.3 days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Excess-day cost avoidance at ~$1,300/day variable cost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$0.5–0.8M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6F7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Soft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Improvement-analyst leverage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OCEL process mining replaces weeks of manual mapping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$0.1–0.2M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6B6F7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Soft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75904" y="2157984"/>
            <a:ext cx="3248863" cy="2487168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9" name="Text 6"/>
          <p:cNvSpPr/>
          <p:nvPr/>
        </p:nvSpPr>
        <p:spPr>
          <a:xfrm>
            <a:off x="8613648" y="2359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FLOOR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13648" y="267004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EFE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dollars only: </a:t>
            </a:r>
            <a:pPr indent="0" marL="0">
              <a:buNone/>
            </a:pPr>
            <a:r>
              <a:rPr lang="en-US" sz="1150" dirty="0">
                <a:solidFill>
                  <a:srgbClr val="C6CB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$1.5–3.0M against a $365K fully-built site — a 4–8× floor before counting a single soft dollar.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13648" y="393192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i="1" dirty="0">
                <a:solidFill>
                  <a:srgbClr val="8A93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Representative 400-bed hospital: 12 ORs · 60K ED visits · 20K admissions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566928" y="495604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 to investors: </a:t>
            </a:r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4–8× hard-dollar floor is what sustains 92–94% gross retention, 110% NRR, and pricing power — the retention math on slides 8–11 is downstream of this table.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 = revenue or cash-cost effect · Soft = capacity release, converts when backfilled — labeled, never blended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Plan v2.0 §2.6 · sourced levers, slide 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independent bottom-ups land within 12%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40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73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LENS A · CMS CERTIFIED BEDS (DECK-001)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$725M SAM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1,404 hospitals with 200+ certified beds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4553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 $1.10B across 4,232 sites — every acute, children's &amp; critical-access hospital with emergency services</a:t>
            </a:r>
            <a:endParaRPr lang="en-US" sz="106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Planning ACVs $90K–$750K by bed class</a:t>
            </a:r>
            <a:endParaRPr lang="en-US" sz="106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Beachhead: 1,023 hospitals of 200–499 beds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199632" y="1572768"/>
            <a:ext cx="5440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773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LENS B · AHA STAFFED BEDS (PLAN v2.0)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55664" y="206654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$821M SAM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55664" y="2761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1,462 hospitals with 200+ staffed beds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55664" y="314553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 $986M across 2,564 hospitals of 100+ beds — displaceable point-solution spend at observed price points</a:t>
            </a:r>
            <a:endParaRPr lang="en-US" sz="106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Calibrated to LeanTaaS $400K+/workflow, TeleTracking, EDIS, WFM $75–300K</a:t>
            </a:r>
            <a:endParaRPr lang="en-US" sz="106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Beachhead: 877 hospitals of 300+ beds ($616M)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66928" y="5010912"/>
            <a:ext cx="11057839" cy="841248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10912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 $725–821M</a:t>
            </a:r>
            <a:pPr indent="0" marL="0">
              <a:buNone/>
            </a:pPr>
            <a:r>
              <a:rPr lang="en-US" sz="1200" dirty="0">
                <a:solidFill>
                  <a:srgbClr val="E8E4D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— different federal datasets, different ACV ladders, same answer. Base-case SOM stays humble: $20.1M = 2.8% of SAM dollars by 2031. A sizing, not a forecast.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Growing 13–15%/yr with the underlying categories — capacity mgmt, OR software, EDIS, WFM, process mining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CMS Hospital General Info (May-26) · AHA Fast Facts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Five-year build — gated, with the throttle 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556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9808" y="35295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logos · 2 sites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3785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$0.6M ARR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07208" y="1572768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7556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008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Convert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990088" y="35295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logos · 6 sites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90088" y="3785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$1.95M ARR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47488" y="1572768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7556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Repeat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230368" y="35295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logos · 14 sites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30368" y="3785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$4.9M ARR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87768" y="1572768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17556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7064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70648" y="35295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logos · 29 sites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70648" y="3785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$10.6M ARR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28048" y="1572768"/>
            <a:ext cx="2084832" cy="2834640"/>
          </a:xfrm>
          <a:prstGeom prst="rect">
            <a:avLst/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17556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1092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Earn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9710928" y="35295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B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logos · 55 sites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10928" y="3785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$20.1M ARR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46634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stage transition is an evidence gate — </a:t>
            </a:r>
            <a:pPr indent="0" marL="0">
              <a:buNone/>
            </a:pPr>
            <a:r>
              <a:rPr lang="en-US" sz="118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references, connectors, install time, margin, security posture. Hiring, spending, and the scale raise wait for proof. YoY ARR growth: 225% → 151% → 116% → 90%.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566928" y="5340096"/>
            <a:ext cx="11057839" cy="658368"/>
          </a:xfrm>
          <a:prstGeom prst="rect">
            <a:avLst/>
          </a:prstGeom>
          <a:solidFill>
            <a:srgbClr val="F7F5E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340096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4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ACCELERATED OVERLAY  </a:t>
            </a:r>
            <a:pPr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2028 gates land early and the scale round upsizes to $25M, Plan-v2.0 capacity math (AE-throttled: 14 → 30 → 50 → 68 new hospitals/yr) supports $35–49M ARR by 2031. Same gates — more fuel after they pass.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 plan identical to Deck-001 — reverified against the fourteen-sheet model this week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Revenue Model rows 6–11 · Plan v2.0 §11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SCOREBOARD · YEAR-5 VALUES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Fifteen Numbers — reverified, unchanged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CAC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88366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$220K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38658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new logo — down 45% from $400K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807208" y="1517904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6276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CLV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53512" y="188366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$1.51M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53512" y="238658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gross-profit LTV per site, 5-yr cap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47488" y="1517904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6276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ARR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93792" y="188366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$20.1M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93792" y="238658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 sites × $365K — identity enforced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287768" y="1517904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16276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MRR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34072" y="188366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$1.67M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34072" y="238658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December-2031 run-rate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528048" y="1517904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6276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ROI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74352" y="188366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589%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74352" y="238658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 return per acquisition dollar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66928" y="3090672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200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BURN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95805" y="3200400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2095805" y="320040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34564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0.14×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3232" y="3959352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 &lt; 1.0× — elite territory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807208" y="3090672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3200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EBITDA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36085" y="3200400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336085" y="320040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53512" y="34564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+$0.06M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953512" y="3959352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break-even inside the window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047488" y="3090672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200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CHURN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93792" y="34564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6.0%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193792" y="3959352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beginning ARR — from 8% in yr 2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7287768" y="3090672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34072" y="3200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LTV:CAC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816645" y="3200400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43" name="Text 41"/>
          <p:cNvSpPr/>
          <p:nvPr/>
        </p:nvSpPr>
        <p:spPr>
          <a:xfrm>
            <a:off x="8816645" y="320040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34072" y="34564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6.9×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34072" y="3959352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healthy bar 3× — crossed 2028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9528048" y="3090672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74352" y="32004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NRR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1056925" y="3200400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49" name="Text 47"/>
          <p:cNvSpPr/>
          <p:nvPr/>
        </p:nvSpPr>
        <p:spPr>
          <a:xfrm>
            <a:off x="11056925" y="320040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74352" y="34564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110%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674352" y="3959352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expansion outruns churn — bar 100%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66928" y="4663440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· GM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3232" y="502920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74.0%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13232" y="55321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blended, from 55% in year 1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2807208" y="4663440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5351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· OP MARGIN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61104" y="4773168"/>
            <a:ext cx="521208" cy="219456"/>
          </a:xfrm>
          <a:prstGeom prst="rect">
            <a:avLst/>
          </a:prstGeom>
          <a:solidFill>
            <a:srgbClr val="A8442A"/>
          </a:solidFill>
          <a:ln/>
        </p:spPr>
      </p:sp>
      <p:sp>
        <p:nvSpPr>
          <p:cNvPr id="59" name="Text 57"/>
          <p:cNvSpPr/>
          <p:nvPr/>
        </p:nvSpPr>
        <p:spPr>
          <a:xfrm>
            <a:off x="4261104" y="4773168"/>
            <a:ext cx="521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53512" y="502920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−1.7%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2953512" y="55321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D&amp;A gap after EBITDA break-even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5047488" y="4663440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379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· PAYBACK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576365" y="4773168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65" name="Text 63"/>
          <p:cNvSpPr/>
          <p:nvPr/>
        </p:nvSpPr>
        <p:spPr>
          <a:xfrm>
            <a:off x="6576365" y="4773168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93792" y="502920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8.7 mo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5193792" y="55321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 12 months — crossed 2030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7287768" y="4663440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3407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· RULE OF 40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816645" y="4773168"/>
            <a:ext cx="446227" cy="219456"/>
          </a:xfrm>
          <a:prstGeom prst="rect">
            <a:avLst/>
          </a:prstGeom>
          <a:solidFill>
            <a:srgbClr val="B08A2E"/>
          </a:solidFill>
          <a:ln/>
        </p:spPr>
      </p:sp>
      <p:sp>
        <p:nvSpPr>
          <p:cNvPr id="71" name="Text 69"/>
          <p:cNvSpPr/>
          <p:nvPr/>
        </p:nvSpPr>
        <p:spPr>
          <a:xfrm>
            <a:off x="8816645" y="4773168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434072" y="502920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7434072" y="55321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+ margin — clears 40 in 2030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9528048" y="4663440"/>
            <a:ext cx="20848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7435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· RUNWAY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0981944" y="4773168"/>
            <a:ext cx="521208" cy="219456"/>
          </a:xfrm>
          <a:prstGeom prst="rect">
            <a:avLst/>
          </a:prstGeom>
          <a:solidFill>
            <a:srgbClr val="A8442A"/>
          </a:solidFill>
          <a:ln/>
        </p:spPr>
      </p:sp>
      <p:sp>
        <p:nvSpPr>
          <p:cNvPr id="77" name="Text 75"/>
          <p:cNvSpPr/>
          <p:nvPr/>
        </p:nvSpPr>
        <p:spPr>
          <a:xfrm>
            <a:off x="10981944" y="4773168"/>
            <a:ext cx="521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674352" y="502920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$4.4M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9674352" y="55321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EOY-31 cash, above $4.0M buffer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 scenario · every value recomputed against the model this week — all fifteen tie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Deck-001 scoreboard · model Checks tab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UNIT ECONOMICS ·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Return on the acquisition dollar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475488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630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ROI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(CLV − CAC) ÷ CAC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0" y="1463040"/>
            <a:ext cx="4108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($1.515M − $0.220M) ÷ $0.220M  =  589%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2212848"/>
          <a:ext cx="72237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375904" y="2212848"/>
            <a:ext cx="3248863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23957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 IT AS CASH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9536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$1.00 of CAC  →  $6.89 gross profit
</a:t>
            </a:r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 of the dollar  →  $5.89 kept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3456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Numerator is 5-yr-capped gross profit, not revenue — the strict version of the metric.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375904" y="4224528"/>
            <a:ext cx="3248863" cy="178308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0" y="4407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CAPITAL-LEVEL VIEW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95360" y="4700016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6CB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$24M lifetime capital stands behind $20.1M of ARR at 110% NRR — $1.20 of capital per $1 of self-compounding recurring revenue.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Falling CAC ($400K → $220K) × rising CLV ($1.13M → $1.51M) is the whole story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Unit Economics rows 9–11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UNIT ECONOMICS ·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Both bars crossed inside the plan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LTV : CAC — HIGHER IS BETTER · 3× HEALTHY BAR (GOLD)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47088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36208" y="1517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 PAYBACK, MONTHS — LOWER IS BETTER · 12-MO BAR (GOLD)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36208" y="1847088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5870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 context: </a:t>
            </a:r>
            <a:pPr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B2B SaaS median payback is ~20 months (KeyBanc 2024); enterprise NRR medians run 110–118% (Benchmarkit 2025). Doubly conservative: per-site CLV against whole-logo CAC, while the average logo runs 1.5 sites by 2031.</a:t>
            </a:r>
            <a:endParaRPr lang="en-US" sz="1080" dirty="0"/>
          </a:p>
        </p:txBody>
      </p:sp>
      <p:sp>
        <p:nvSpPr>
          <p:cNvPr id="9" name="Shape 5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LTV:CAC crosses the 3× bar in 2028 · payback crosses 12 months in 2030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Unit Economics rows 8–12 · Benchmarkit · KeyBanc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RETENTION &amp; 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book compounds; the burn disappears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CHURN · NRR TRAJECTORY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868680"/>
                <a:gridCol w="26974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YEAR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CHURN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NRR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GATE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2027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 assumed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expansion credit in year 1 — by design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2028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8.0%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103%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Expansion only after measured results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2029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105%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Module 2–3 attach on referenced sites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2030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108%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Multi-site logos begin (1.4 sites/logo)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2031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20" b="1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110%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A22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GRR 94% · expansion outruns churn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FY2031 ARR bridge ($M):  </a:t>
            </a:r>
            <a:pPr indent="0" marL="0">
              <a:buNone/>
            </a:pPr>
            <a:r>
              <a:rPr lang="en-US" sz="95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10.59 − 0.64 churn + 1.69 expansion + 8.43 new = 20.08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36208" y="1517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BURN MULTIPLE — DOLLARS BURNED PER NET-NEW ARR DOLLAR · 1.0× BAR (GOLD)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36208" y="1847088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236208" y="52303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 1.0× is elite; the plan crosses in 2030 and finishes at 14 cents per new recurring dollar. Net burn includes working capital and capex — not an EBITDA proxy.</a:t>
            </a:r>
            <a:endParaRPr lang="en-US" sz="1030" dirty="0"/>
          </a:p>
        </p:txBody>
      </p:sp>
      <p:sp>
        <p:nvSpPr>
          <p:cNvPr id="10" name="Text 6"/>
          <p:cNvSpPr/>
          <p:nvPr/>
        </p:nvSpPr>
        <p:spPr>
          <a:xfrm>
            <a:off x="566928" y="4846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 of 40: </a:t>
            </a:r>
            <a:pPr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→ 38 → 84 → 94 across 2028–2031 — small-base growth flatters it early; weight 2030–31, when the base is $9.4M and $18.3M.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GRR 92% → 94% · churn = 1 − GRR applied to beginning ARR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Revenue Model rows 11–14 · Cash Runway row 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· CAPITAL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Staged, gated — with a priced acceleration 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40680" cy="1783080"/>
          </a:xfrm>
          <a:prstGeom prst="rect">
            <a:avLst/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73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VALIDATION ROUND · M1 (JAN-27)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15968" y="1737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4965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C6CB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months: security remediation first, production EHR connectors, paid design-partner pilots at contracted success metrics, founder-led GTM. Trough cover ≈ 3 months at M18 — named, not hidden.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199632" y="1572768"/>
            <a:ext cx="5440680" cy="1783080"/>
          </a:xfrm>
          <a:prstGeom prst="rect">
            <a:avLst/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773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ROUND · M19 (JUL-28)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948672" y="1737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$16M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37376" y="2157984"/>
            <a:ext cx="4965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C6CB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Sales and implementation scale-up — raised when the five evidence gates below are met, not when the calendar says so. Total need through break-even ≈ $23.6M incl. $4M reserve.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FIVE EVIDENCE GATES FOR THE SCALE ROUND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913632"/>
            <a:ext cx="2084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416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3+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1520" y="44622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reference customers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2807208" y="3913632"/>
            <a:ext cx="2084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40416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$2–4M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971800" y="44622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contracted ARR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47488" y="3913632"/>
            <a:ext cx="2084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40416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212080" y="44622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repeatable EHR connectors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287768" y="3913632"/>
            <a:ext cx="2084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40416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&lt;150d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452360" y="44622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 per site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528048" y="3913632"/>
            <a:ext cx="2084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40416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&gt;75%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692640" y="44622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subscription GM + security posture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66928" y="5303520"/>
            <a:ext cx="11057839" cy="749808"/>
          </a:xfrm>
          <a:prstGeom prst="rect">
            <a:avLst/>
          </a:prstGeom>
          <a:solidFill>
            <a:srgbClr val="F7F5E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5303520"/>
            <a:ext cx="106189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4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ACCELERATION OPTION  </a:t>
            </a:r>
            <a:pPr indent="0" marL="0">
              <a:buNone/>
            </a:pPr>
            <a:r>
              <a:rPr lang="en-US" sz="106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Gates passed early → scale round upsizes toward $25M (Plan-v2.0 structure, $40M lifetime). Funds 4 AE pods instead of 2; base $20.1M becomes $35–49M by 2031; break-even pulls from 2031 toward 2029–30. Ambition is a priced option on evidence — never the base.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Seed in: $1M · staged institutional rounds: $23M · lifetime capital $24M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Assumptions rows 9–13 · Plan v2.0 §14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· STRESS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Year-5 outcomes — four labeled worlds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700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44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DOWNSIDE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$7.8M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" y="263347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ARR · 18 logos · 24 sites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68096" y="3090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EBITDA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773936" y="30906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−$2.74M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68096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Capital-need indicator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773936" y="35021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+$6.7M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68096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 throttle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1773936" y="3913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75% of plan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68096" y="459028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Early retrenchment or added capital — the model says so on its own Scenarios tab.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374136" y="1572768"/>
            <a:ext cx="2670048" cy="4160520"/>
          </a:xfrm>
          <a:prstGeom prst="rect">
            <a:avLst/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 — THIS PLAN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75304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$20.1M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75304" y="263347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8A93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ARR · 36 logos · 55 sites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3575304" y="3090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EBITDA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581144" y="30906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2EF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+$0.06M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575304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cash vs buffer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581144" y="35021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2EF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$4.4M vs $4.0M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575304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581144" y="3913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2EF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 of plan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575304" y="459028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8A93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fifteen scoreboard numbers come from this column.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181344" y="1572768"/>
            <a:ext cx="26700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UPSIDE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82512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$35.6M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382512" y="263347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ARR · 58 logos · 95 sites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382512" y="3090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EBITDA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7388352" y="30906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+$4.87M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382512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Capital-need indicator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388352" y="35021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382512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388352" y="3913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115% of plan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6382512" y="459028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two raises — upside flows to cash, it doesn't get spent.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988552" y="1572768"/>
            <a:ext cx="26700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4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ACCELERATED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89720" y="204825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$48.9M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9189720" y="263347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ARR · 159 hospitals (Plan v2.0 ramp)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189720" y="3090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Capital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10195560" y="30906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$40M staged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9189720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EBITDA 2031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10195560" y="35021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+20% margin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9189720" y="39136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Requires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10195560" y="39136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gates early + $25M scale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9189720" y="459028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i="1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v2.0 trajectory, priced as an option — not blended into the base.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drivers move per scenario: logos, sites, ACV, retention, GM, OpEx, CAC, conversion, DSO, capex, hiring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Scenarios rows 6–16 · Plan v2.0 §11.4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· ILLUSTRATIVE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the capital turns 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7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CONSERVATIVE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206654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~$100M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68096" y="26883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value · base ARR $20.1M × 5×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768096" y="3310128"/>
            <a:ext cx="2267712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41985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 ÷ lifetime capital   </a:t>
            </a:r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74136" y="1572768"/>
            <a:ext cx="2670048" cy="2651760"/>
          </a:xfrm>
          <a:prstGeom prst="rect">
            <a:avLst/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75304" y="206654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~$160M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575304" y="26883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8A93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value · base ARR $20.1M × 8×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575304" y="3310128"/>
            <a:ext cx="2267712" cy="0"/>
          </a:xfrm>
          <a:prstGeom prst="line">
            <a:avLst/>
          </a:prstGeom>
          <a:noFill/>
          <a:ln w="9525">
            <a:solidFill>
              <a:srgbClr val="2A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341985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 ÷ lifetime capital   </a:t>
            </a:r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6.7×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572768"/>
            <a:ext cx="267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UPSIDE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2512" y="206654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~$285M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6382512" y="26883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value · upside ARR $35.6M × 8×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382512" y="3310128"/>
            <a:ext cx="2267712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41985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 ÷ lifetime capital   </a:t>
            </a:r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11.9×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88552" y="1572768"/>
            <a:ext cx="267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739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ACCELERATED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89720" y="206654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~$390M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9189720" y="26883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value · accel. ARR $48.9M × 8×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9189720" y="3310128"/>
            <a:ext cx="2267712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41985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 ÷ lifetime capital   </a:t>
            </a:r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498848"/>
            <a:ext cx="1105783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626864"/>
            <a:ext cx="105823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driver is capital efficiency, not the multiple. </a:t>
            </a:r>
            <a:pPr indent="0" marL="0">
              <a:buNone/>
            </a:pPr>
            <a:r>
              <a:rPr lang="en-US" sz="113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$20.1M of ARR on $24M of lifetime capital — $1.20 per recurring dollar at 110% NRR — means ownership stays concentrated; conventional paths to the same ARR raise 2–3× more and dilute accordingly. The accelerated case spends $40M to reach $48.9M ($0.82 per recurring dollar) — better efficiency, taken only after the evidence gates pass.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566928" y="5705856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only. Multiples (5–8× ARR, mid-range of healthcare-SaaS transactions) and timing are assumptions, not commitments — the plan sets no valuation. Actual returns depend on terms, dilution, performance, and exit conditions. Not an offer or a guarantee of returns.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 acquirers priced this space: Bain (LeanTaaS $1B+ EV) · KKR (Qventus) · Aionex (TeleTracking)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Deck-001 returns frame · Plan v2.0 §14.1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· DISCLOSED, NOT SUPPRESSED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two flags the model still raises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73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44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 1 · OPEX CAPACITY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21808" y="1773936"/>
            <a:ext cx="446227" cy="219456"/>
          </a:xfrm>
          <a:prstGeom prst="rect">
            <a:avLst/>
          </a:prstGeom>
          <a:solidFill>
            <a:srgbClr val="A8442A"/>
          </a:solidFill>
          <a:ln/>
        </p:spPr>
      </p:sp>
      <p:sp>
        <p:nvSpPr>
          <p:cNvPr id="7" name="Text 5"/>
          <p:cNvSpPr/>
          <p:nvPr/>
        </p:nvSpPr>
        <p:spPr>
          <a:xfrm>
            <a:off x="5321808" y="1773936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0665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−$1.62M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2031 gap — bottom-up OpEx vs business-plan cap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999232"/>
            <a:ext cx="4956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Role-level HR and technology schedules cost more than the plan-calibrated OpEx targets from 2028 onward: −$0.17M → −$0.64M → −$1.04M → −$1.62M.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4672" y="4297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MANAGEMENT ACTION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4553712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Slower hiring, lower cash comp, or higher ARR per FTE — the $309K ARR/employee assumption is the lever, reviewed before every hiring and fundraising commitment.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199632" y="1572768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773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44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 2 · YEAR-1 BUFFER DIP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54512" y="1773936"/>
            <a:ext cx="446227" cy="219456"/>
          </a:xfrm>
          <a:prstGeom prst="rect">
            <a:avLst/>
          </a:prstGeom>
          <a:solidFill>
            <a:srgbClr val="A844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54512" y="1773936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7376" y="20665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−$0.18M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37376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EOY-2027 cash $3.82M vs $4.0M board minimum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7376" y="2999232"/>
            <a:ext cx="4956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Ending 2027 cash sits just below the board's minimum buffer, and the pre-raise trough reaches $1.29M in month 18 — about three months of cover.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37376" y="4297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MANAGEMENT ACTION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37376" y="4553712"/>
            <a:ext cx="4956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Sequencing, not hope: the validation round is sized for 18 months, the scale round is evidence-gated at M19, and the buffer is restored in every year thereafter.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566928" y="5833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11 structural checks PASS — revenue bridges, cash roll-forward, allocation totals. These two flags are also why the base case, not the accelerated case, is the plan.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Unchanged from Deck-001 — still true, still disclosed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Checks rows 8–25 · Operating Expenses rows 16–20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· CANDOR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 are not claiming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66420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$8.5B TAM.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v1.0 figure blended analyst categories Zephyrus doesn't sell into. The bottom-up SAM is $725–821M — big enough, and real.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440680" cy="1298448"/>
          </a:xfrm>
          <a:prstGeom prst="rect">
            <a:avLst/>
          </a:prstGeom>
          <a:solidFill>
            <a:srgbClr val="F7F5E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9088" y="166420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43:1 LTV:CAC.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honest ratio is 6.9× on a 5-yr cap with fully-loaded ~$220K CAC — still exceptional, and it survives diligence.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980944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09067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production-ready today.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remediation, live EHR connectors, and HA/DR are the first 18 months of the validation round — the gap is named, concentrated, and funded.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9632" y="2980944"/>
            <a:ext cx="5440680" cy="1298448"/>
          </a:xfrm>
          <a:prstGeom prst="rect">
            <a:avLst/>
          </a:prstGeom>
          <a:solidFill>
            <a:srgbClr val="F7F5E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309067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expansion credit before results.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NRR is 100% in year 1 by construction; module expansion is earned by measured outcomes, then modeled.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407408"/>
            <a:ext cx="5440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451713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blended ambition.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accelerated $48.9M path exists only as a labeled option behind the same evidence gates, with its own $40M capital plan.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9632" y="4407408"/>
            <a:ext cx="5440680" cy="1298448"/>
          </a:xfrm>
          <a:prstGeom prst="rect">
            <a:avLst/>
          </a:prstGeom>
          <a:solidFill>
            <a:srgbClr val="F7F5EF"/>
          </a:solidFill>
          <a:ln w="12700">
            <a:solidFill>
              <a:srgbClr val="E2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451713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valuation set by this deck.  </a:t>
            </a:r>
            <a:pPr indent="0" marL="0">
              <a:buNone/>
            </a:pPr>
            <a:r>
              <a:rPr lang="en-US" sz="1060" dirty="0">
                <a:solidFill>
                  <a:srgbClr val="3A415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 figures are illustrative multiples on modeled ARR — terms belong to the term sheet, not the plan.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6382512"/>
            <a:ext cx="11057839" cy="0"/>
          </a:xfrm>
          <a:prstGeom prst="line">
            <a:avLst/>
          </a:prstGeom>
          <a:noFill/>
          <a:ln w="9525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37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founder can talk themselves into growth; these numbers cannot be talked into anything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6437376"/>
            <a:ext cx="3212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Plan v2.0 Appendix B · Deck-001 candor slide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E4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ACUMENUS, INC. · ZEPHYRUS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737360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$7M proves it. $16M scales it.
</a:t>
            </a:r>
            <a:pPr indent="0" marL="0">
              <a:buNone/>
            </a:pPr>
            <a:r>
              <a:rPr lang="en-US" sz="36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Evidence gates every dollar — and every claim.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66928" y="3520440"/>
            <a:ext cx="3611880" cy="1691640"/>
          </a:xfrm>
          <a:prstGeom prst="rect">
            <a:avLst/>
          </a:prstGeom>
          <a:solidFill>
            <a:srgbClr val="161C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367588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· VALIDATION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" y="39319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$7M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68096" y="440740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months of proof: security, connectors, paid design partners, founder-led sales.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334256" y="3520440"/>
            <a:ext cx="3611880" cy="1691640"/>
          </a:xfrm>
          <a:prstGeom prst="rect">
            <a:avLst/>
          </a:prstGeom>
          <a:solidFill>
            <a:srgbClr val="161C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5424" y="367588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GATED · SCALE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35424" y="39319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$16M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4535424" y="440740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Unlocked by 3+ references · $2–4M ARR · 2 connectors · &lt;150-day installs · &gt;75% sub GM.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8101584" y="3520440"/>
            <a:ext cx="3611880" cy="1691640"/>
          </a:xfrm>
          <a:prstGeom prst="rect">
            <a:avLst/>
          </a:prstGeom>
          <a:solidFill>
            <a:srgbClr val="161C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367588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 2031 · LANDS AT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02752" y="39319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EFE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$20.1M ARR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8302752" y="4407408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 logos · 55 sites · 74% GM · EBITDA break-even — on $23M staged, $1.20 per recurring dollar.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566928" y="55046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589% ACQ ROI  ·  6.9× LTV:CAC  ·  8.7 MO PAYBACK  ·  0.14× BURN  ·  110% NRR  ·  RULE OF 40 = 94  ·  2 FLAGS DISCLOSED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5961888"/>
            <a:ext cx="11057839" cy="0"/>
          </a:xfrm>
          <a:prstGeom prst="line">
            <a:avLst/>
          </a:prstGeom>
          <a:noFill/>
          <a:ln w="9525">
            <a:solidFill>
              <a:srgbClr val="2A32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0533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4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 is in the data room — change any assumption and all fifteen numbers recompute. </a:t>
            </a:r>
            <a:pPr indent="0" marL="0">
              <a:buNone/>
            </a:pPr>
            <a:r>
              <a:rPr lang="en-US" sz="1050" b="1" dirty="0">
                <a:solidFill>
                  <a:srgbClr val="F2EFE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Sanjay M. Udoshi, MD · Founder · smudoshi@acumenus.net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78240" y="6089904"/>
            <a:ext cx="2846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9A2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ACUM-ZEP-FIN-DECK-002 · 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2026-07-17T22:30:22Z</dcterms:created>
  <dcterms:modified xsi:type="dcterms:W3CDTF">2026-07-17T22:30:22Z</dcterms:modified>
</cp:coreProperties>
</file>